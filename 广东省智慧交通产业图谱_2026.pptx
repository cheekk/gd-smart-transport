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广东省智慧交通产业图谱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CCEE"/>
                </a:solidFill>
              </a:defRPr>
            </a:pPr>
            <a:r>
              <a:t>GUANGDONG INTELLIGENT TRANSPORTATION INDUSTRY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t>三层架构 · 十二大场景 · 全产业链覆盖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收录 417 家企业/机构  |  上游 156 · 中游 190 · 下游 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广东省智能交通协会 编制 · 2026年版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编制说明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本产业图谱由广东省智能交通协会组织编制，旨在全面梳理广东省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智慧交通产业链上下游企业，为行业管理部门、投资机构和产业链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上下游企业提供参考。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数据来源：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• 广东省智能交通协会会员名录（302家）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• 企业调研问卷及公开年报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• 全网公开信息搜索及企业官网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分类体系：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• 三层产业链架构：上游技术 / 中游集成 / 下游应用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• 十二大应用场景</a:t>
            </a:r>
          </a:p>
          <a:p>
            <a:pPr>
              <a:spcAft>
                <a:spcPts val="200"/>
              </a:spcAft>
              <a:defRPr sz="1100" b="0">
                <a:solidFill>
                  <a:srgbClr val="334055"/>
                </a:solidFill>
              </a:defRPr>
            </a:pPr>
            <a:r>
              <a:t>• 三大企业类型：央国企 / 民企 / 科研机构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关键统计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收录企业总数：417 家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按层级分布：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  上游技术：156 家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  中游集成：190 家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  下游应用：71 家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按企业类型：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  央国企：95 家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  民企：285 家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  科研机构：37 家</a:t>
            </a: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</a:p>
          <a:p>
            <a:pPr>
              <a:spcAft>
                <a:spcPts val="200"/>
              </a:spcAft>
              <a:defRPr sz="1200" b="0">
                <a:solidFill>
                  <a:srgbClr val="1E293B"/>
                </a:solidFill>
              </a:defRPr>
            </a:pPr>
            <a:r>
              <a:t>覆盖场景：12 个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十二大场景 × 三层产业链 交叉统计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2560320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0" y="1188720"/>
            <a:ext cx="1828800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上游技术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59" y="1188720"/>
            <a:ext cx="1828800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中游集成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59" y="1188720"/>
            <a:ext cx="1828800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下游应用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0" y="1188720"/>
            <a:ext cx="1371600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合计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36192"/>
            <a:ext cx="256032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3619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智慧交通管理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536192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79" y="153619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59" y="1536192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79" y="153619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152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1536192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79" y="153619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1536192"/>
            <a:ext cx="13716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153619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250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181051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智慧公路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79" y="181051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79" y="181051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79" y="181051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181051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130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084832"/>
            <a:ext cx="256032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08483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交通大数据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084832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79" y="208483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29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59" y="2084832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3479" y="208483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53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59" y="2084832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79" y="208483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2084832"/>
            <a:ext cx="13716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208483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92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235915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人工智能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79" y="235915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54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79" y="235915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79" y="235915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235915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73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2633472"/>
            <a:ext cx="256032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26334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自动驾驶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2633472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4679" y="263347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59" y="2633472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83479" y="263347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59" y="2633472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12279" y="263347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5360" y="2633472"/>
            <a:ext cx="13716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41080" y="263347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64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290779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湾区MaaS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4679" y="290779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3479" y="290779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79" y="290779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41080" y="290779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67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182111"/>
            <a:ext cx="256032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318211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信创网络安全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3182111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54679" y="318211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23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59" y="3182111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83479" y="318211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766559" y="3182111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12279" y="318211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595360" y="3182111"/>
            <a:ext cx="13716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41080" y="3182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32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4360" y="345643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低空智慧交通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54679" y="345643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83479" y="345643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79" y="345643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41080" y="34564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3730751"/>
            <a:ext cx="256032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4360" y="373075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智慧轨道交通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108960" y="3730751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154679" y="373075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59" y="3730751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983479" y="373075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12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66559" y="3730751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12279" y="373075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95360" y="3730751"/>
            <a:ext cx="13716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41080" y="373075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22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360" y="400507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智慧停车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54679" y="400507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83479" y="400507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12279" y="400507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641080" y="400507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14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48640" y="4279391"/>
            <a:ext cx="256032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27939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智慧港航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108960" y="4279391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54679" y="427939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9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59" y="4279391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983479" y="427939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766559" y="4279391"/>
            <a:ext cx="18288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79" y="427939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595360" y="4279391"/>
            <a:ext cx="1371600" cy="274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641080" y="427939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4360" y="4553711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具身智能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54679" y="455371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563EB"/>
                </a:solidFill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83479" y="455371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C3AED"/>
                </a:solidFill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12279" y="455371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891B2"/>
                </a:solidFill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41080" y="45537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场景：智慧交通管理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250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上游技术（83家）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中国电信股份有限公司广东分公司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中国移动通信集团广东有限公司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中国联合网络通信有限公司中山市分公司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中国联合网络通信有限公司广东省分公司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中电科普天科技股份有限公司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广州交信投科技股份有限公司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深圳市易行网数字科技有限公司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上海峰华人工智能科技有限公司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中兴通讯股份有限公司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中山市人杰职业培训学校有限公司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云念软件（广东）有限公司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佛山市青松科技股份有限公司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佳都科技集团股份有限公司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北京卓视智通科技有限责任公司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北京博研智通科技有限公司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北京四维图新科技股份有限公司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北京视讯伟业科技有限公司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华为技术有限公司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65 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中游集成（152家）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中交城市投资控股有限公司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中国交通信息科技集团有限公司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中国联合网络通信有限公司深圳市分公司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中捷通信有限公司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中移系统集成有限公司广东分公司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中通服建设有限公司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佛山市交通投资集团有限公司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公诚管理咨询有限公司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广东利通科技投资有限公司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广东利通置业投资有限公司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广东华路交通科技有限公司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广东南方电信规划咨询设计院有限公司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广东新粤交通投资有限公司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广东省交通集团有限公司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广东省电信规划设计院有限公司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广东诚泰交通科技发展有限公司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广东飞达交通工程有限公司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广州交投机电工程有限公司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134 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下游应用（15家）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广州中交通信有限公司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广州交通集团物流有限公司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广州巴士集团有限公司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广州市交通站场建设管理中心有限公司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广州市公共交通数据管理中心有限公司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广州市智能网联汽车示范区运营中心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深圳市综合交通运行指挥中心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丰巢网络技术有限公司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广东南粤通客运联网中心有限公司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广州佳都方纬交通科技有限公司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广州国交润万交通信息有限公司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广州瀚信通信科技股份有限公司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广州锐龙供应链有限公司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广州顺丰速运有限公司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深圳智驹云服科技有限公司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场景：智慧公路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130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上游技术（40家）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中国电信股份有限公司广东分公司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中国移动通信集团广东有限公司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中国联合网络通信有限公司中山市分公司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中国联合网络通信有限公司广东省分公司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广东联合电子服务股份有限公司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中兴通讯股份有限公司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佛山市青松科技股份有限公司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北京万集科技股份有限公司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华为技术有限公司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广东南方通信建设有限公司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广东新快易通智能信息发展有限公司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广东百视特照明电器有限公司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广东盛路通信科技股份有限公司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广州优路加信息科技有限公司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广州信盛通信科技有限公司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广州市埃特斯通讯设备有限公司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广州芯网电子科技有限公司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广州高新兴网联科技有限公司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22 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中游集成（65家）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东莞市交通投资控股集团有限公司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中国联合网络通信有限公司深圳市分公司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中山市交通发展集团有限公司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中移系统集成有限公司广东分公司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中通服建设有限公司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佛山市交通投资集团有限公司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保利长大工程有限公司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公诚管理咨询有限公司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广东利通科技投资有限公司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广东利通置业投资有限公司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广东华路交通科技有限公司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广东新粤交通投资有限公司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广东晶通公路工程建设集团有限公司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广东省交通规划设计研究院集团股份有限公司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广东省交通集团有限公司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广东省公路勘察规划设计院有限公司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广东省南粤交通投资建设有限公司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广东省建筑工程机械施工有限公司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47 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下游应用（25家）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东莞发展控股股份有限公司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东莞市路桥投资建设有限公司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中交广连高速公路投资发展有限公司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佛山广明高速公路有限公司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广东广深高速公路有限公司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广东开阳高速公路有限公司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广东河惠高速公路有限公司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广东渝湛高速公路有限公司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广东港珠澳大桥穿梭巴士有限公司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广东省公路建设有限公司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广东省路桥建设发展有限公司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广东省高速公路发展股份有限公司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广东省高速公路有限公司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广东粤运交通股份有限公司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广东阳茂高速公路有限公司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广州中交通信有限公司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3816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广州长运集团有限公司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深圳高速公路集团股份有限公司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7 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场景：交通大数据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92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上游技术（29家）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中国移动通信集团广东有限公司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广东联合电子服务股份有限公司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广州交信投科技股份有限公司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深圳市易行网数字科技有限公司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中电科金仓（北京）科技股份有限公司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中科星图数字地球合肥有限公司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北京四维图新科技股份有限公司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华章数据技术有限公司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广州优路加信息科技有限公司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广州柏瀚信息科技有限公司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杭州海康威视数字技术股份有限公司广州分公司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杭州美创科技股份有限公司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浙江大华技术股份有限公司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深圳北斗应用技术研究院有限公司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腾讯云计算（北京）有限责任公司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东莞理工学院生态环境与建筑工程学院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中山大学智能交通研究中心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五邑大学土木建筑学院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11 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中游集成（53家）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中国交通信息科技集团有限公司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中国联合网络通信有限公司深圳市分公司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中移系统集成有限公司广东分公司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广州市交通运输研究院有限公司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广州市城市规划勘测设计研究院有限公司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广州羊城通有限公司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深圳市城市交通规划设计研究中心股份有限公司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深圳市智能交通技术有限公司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珠海市交通物联网有限公司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北京久其软件股份有限公司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北京华录高诚科技有限公司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北京超图软件股份有限公司广州分公司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同盾科技有限公司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广东云慧通科技有限公司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广东宜通联云智能信息有限公司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广东振业优控科技股份有限公司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广东方纬科技有限公司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广东浪潮软件有限公司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35 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下游应用（10家）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广州中交通信有限公司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广州交通集团物流有限公司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广州市公共交通数据管理中心有限公司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深圳市综合交通运行指挥中心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广东盈通网络投资有限公司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广州国交润万交通信息有限公司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广州数据交易所有限公司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广州瀚信通信科技股份有限公司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广州顺丰速运有限公司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深圳智驹云服科技有限公司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场景：人工智能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73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上游技术（54家）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广州汽车集团股份有限公司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上海峰华人工智能科技有限公司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云宏信息科技股份有限公司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云念软件（广东）有限公司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佳都科技集团股份有限公司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北京卓视智通科技有限责任公司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北京博研智通科技有限公司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华为技术有限公司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华为海思半导体有限公司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华力创科学（深圳）有限公司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广东航天七零六信息科技有限公司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广东龙芯中科电子科技有限公司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广州宸境科技有限公司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广州小马智行科技有限公司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广州小鹏汽车科技有限公司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广州市杜格科技有限公司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广州极飞科技股份有限公司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广州英码信息科技有限公司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36 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中游集成（17家）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广东利通科技投资有限公司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广州广电运通智能科技有限公司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北京超图软件股份有限公司广州分公司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同盾科技有限公司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广东大仓机器人科技有限公司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广东敖智科技有限公司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广东海欣智能科技有限公司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广东运星科技有限公司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广州中科云图智能科技有限公司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广州喜讯智能科技有限公司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广州学塾加软件科技有限公司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广州市学塾加软件科技有限公司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智行智能交通科技（广州）有限公司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浩鲸云计算科技股份有限公司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深圳市腾讯计算机系统有限公司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滴普科技股份有限公司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视云融聚（广州）科技有限公司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下游应用（2家）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广州文远知行科技有限公司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滴滴出行科技有限公司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场景：自动驾驶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64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上游技术（50家）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广州汽车集团股份有限公司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上海华测导航技术股份有限公司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亿航智能设备有限公司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北京万集科技股份有限公司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北京四维图新科技股份有限公司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华为海思半导体有限公司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华力创科学（深圳）有限公司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广东汇天航空航天科技有限公司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广东盛路通信科技股份有限公司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广州中海达卫星导航技术股份有限公司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广州吉欧电子科技有限公司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广州宸境科技有限公司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广州导远电子科技有限公司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广州小马智行科技有限公司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广州小鹏汽车科技有限公司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广州市中海达测绘仪器有限公司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广州立功科技股份有限公司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广州芯网电子科技有限公司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32 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中游集成（6家）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广州市城市规划勘测设计研究院有限公司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京雄云控（北京）智能交通科技有限公司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广州智臣信息科技有限公司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深圳市凌度汽车电子有限公司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视云融聚（广州）科技有限公司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广州计量检测技术研究院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下游应用（8家）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广州中交通信有限公司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广州市智能网联汽车示范区运营中心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广东车联网信息科技服务有限公司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广州文远知行科技有限公司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广州祺宸科技有限公司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深圳美团科技有限公司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滴滴出行科技有限公司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祺迹汽车科技（广州）有限公司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场景：湾区MaaS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67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上游技术（7家）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广东联合电子服务股份有限公司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广州交信投科技股份有限公司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佳都科技集团股份有限公司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广州通达汽车电气股份有限公司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深圳北斗应用技术研究院有限公司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深圳市图敏智能视频股份有限公司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高新兴科技集团股份有限公司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中游集成（23家）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中交城市投资控股有限公司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中山市交通发展集团有限公司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广东岭南通股份有限公司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广东省交通集团有限公司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广州市交通规划研究院有限公司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广州市交通运输研究院有限公司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广州市城市规划勘测设计研究院有限公司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广州广电运通智能科技有限公司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广州羊城通有限公司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广州运通链达金服科技有限公司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深圳市城市交通规划设计研究中心股份有限公司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珠海交通控股集团有限公司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广东振业优控科技股份有限公司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广东诺丰市政工程设计有限公司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广州市迈得科技有限公司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广州智臣信息科技有限公司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广州蔚景科技有限公司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广州运星科技有限公司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5 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下游应用（37家）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威盛运输企业有限公司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岐关车路有限公司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广东广佛轨道交通有限公司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广东港珠澳大桥穿梭巴士有限公司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广东省拱北汽车运输有限责任公司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广东省汽车运输集团有限公司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广东粤运交通股份有限公司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广州中交通信有限公司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广州公交集团新能源发展有限责任公司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广州地铁集团有限公司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广州巴士集团有限公司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6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广州市交通站场建设管理中心有限公司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广州市公共交通数据管理中心有限公司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广州港集团有限公司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广州白云国际机场空港快线运输有限公司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广州白云国际机场股份有限公司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广州长运集团有限公司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招商局港口集团股份有限公司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19 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场景：信创网络安全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32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上游技术（23家）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中国电信股份有限公司广东分公司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中国联合网络通信有限公司广东省分公司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中电科普天科技股份有限公司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中兴通讯股份有限公司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中电科金仓（北京）科技股份有限公司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云宏信息科技股份有限公司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亚信安全科技股份有限公司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北京信安世纪科技股份有限公司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北京启明星辰信息安全技术有限公司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北京天融信网络安全技术有限公司广州分公司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北京神州绿盟科技有限公司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北京网御星云信息技术有限公司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华为技术有限公司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华章数据技术有限公司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奇安信网神信息技术(北京)股份有限公司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山东新潮信息技术有限公司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广东航天七零六信息科技有限公司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广东龙芯中科电子科技有限公司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5 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中游集成（9家）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广东南方电信规划咨询设计院有限公司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上海天玑科技股份有限公司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信创神州（广东）科技有限公司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北京辰安科技股份有限公司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吉华安全技术（广州）股份有限公司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广东中兴新支点技术有限公司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广东智臣科技有限公司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广东省低空安全科技有限公司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广东赛诺科技股份有限公司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场景：低空智慧交通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45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上游技术（27家）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广州汽车集团股份有限公司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上海华测导航技术股份有限公司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中科星图数字地球合肥有限公司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亿航智能设备有限公司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华诺星空技术股份有限公司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南京莱斯信息技术股份有限公司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峰飞航空科技（深圳）有限公司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广东南方通信建设有限公司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广东汇天航空航天科技有限公司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广州中海达卫星导航技术股份有限公司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广州信盛通信科技有限公司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广州吉欧电子科技有限公司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广州市中海达测绘仪器有限公司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3542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广州极飞科技股份有限公司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3659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深圳北斗应用技术研究院有限公司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深圳市大疆创新科技有限公司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389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深圳市科比特航空科技有限公司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34009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深圳市道通智能航空技术股份有限公司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41264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</a:defRPr>
            </a:pPr>
            <a:r>
              <a:t>...及其他 9 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中游集成（13家）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广州市城市规划勘测设计研究院有限公司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天羿智服（广东）科技有限公司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广东北研航空遥感科技有限公司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广东振业优控科技股份有限公司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广东智飞航空技术服务有限公司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广东省低空安全科技有限公司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广东青云直上航空科技有限公司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广州中科云图智能科技有限公司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广州市迈得科技有限公司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广州市鑫广飞信息科技有限公司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广州成至智能机器科技有限公司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广州智臣信息科技有限公司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433425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视云融聚（广州）科技有限公司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下游应用（5家）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广州中交通信有限公司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广州白云国际机场空港快线运输有限公司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广州白云国际机场股份有限公司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广东享飞通用航空有限公司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深圳美团科技有限公司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场景：智慧轨道交通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22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上游技术（6家）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佳都科技集团股份有限公司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比亚迪通信信号有限公司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华南理工大学土木与交通学院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广东交通职业技术学院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广州铁路职业技术学院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深圳技术大学城市交通与物流学院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中游集成（12家）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东莞市交通投资控股集团有限公司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中车广东轨道交通车辆有限公司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广东省交通规划设计研究院集团股份有限公司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广东省建筑工程机械施工有限公司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广州中车轨道交通装备有限公司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广州广电运通智能科技有限公司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深圳中车轨道交通装备有限公司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中交远洲交通科技集团有限公司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华设设计集团股份有限公司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73075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广东正方圆工程咨询有限公司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931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广州市微柏软件股份有限公司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13308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广联达数字科技（广州）有限公司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下游应用（4家）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广东广佛轨道交通有限公司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广州地铁集团有限公司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深圳市地铁集团有限公司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广州佳都方纬交通科技有限公司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场景：智慧停车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14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上游技术（2家）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成都臻识科技发展有限公司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深圳市金溢科技股份有限公司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中游集成（9家）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广东岭南通股份有限公司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广州羊城通有限公司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广东云网通信有限公司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广东艾科智泊科技股份有限公司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广东蔚景科技股份有限公司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广州蔚景科技有限公司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深圳市前海亿车科技有限公司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深圳市捷顺科技实业股份有限公司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深圳市趣电智行科技有限公司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下游应用（3家）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广州公交集团新能源发展有限责任公司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佛山市广佛通电子收费营运有限公司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珠海市珠海通科技有限公司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场景：智慧港航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20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上游技术（9家）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广州中海达卫星导航技术股份有限公司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广州市中海达测绘仪器有限公司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深圳中集智能科技有限公司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深圳北斗应用技术研究院有限公司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广东交通职业技术学院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广东海洋大学海运学院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广州航海学院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广州航海学院航运与交通学院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295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暨南大学物联网与物流工程研究院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中游集成（7家）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东莞市交通投资控股集团有限公司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广东省航运规划设计院有限公司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珠海交通控股集团有限公司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广东航鑫工程勘察设计有限公司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72491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广州数字方舟信息技术股份有限公司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926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广州智臣信息科技有限公司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12724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广州港数据科技有限公司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463040"/>
            <a:ext cx="3474720" cy="320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📱 下游应用（4家）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广州中交通信有限公司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广州港集团有限公司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322576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D97706"/>
                </a:solidFill>
              </a:defRPr>
            </a:pPr>
            <a:r>
              <a:t>[国] 招商局港口集团股份有限公司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52374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广州航运交易所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场景：具身智能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共 3 家企业/机构涉及此场景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474720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🔧 上游技术（2家）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广州小鹏汽车科技有限公司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59669"/>
                </a:solidFill>
              </a:defRPr>
            </a:pPr>
            <a:r>
              <a:t>[研] 中山大学智能工程学院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463040"/>
            <a:ext cx="34747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⚙️ 中游集成（1家）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9202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0891B2"/>
                </a:solidFill>
              </a:defRPr>
            </a:pPr>
            <a:r>
              <a:t>[民] 广东大仓机器人科技有限公司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核心企业/机构名录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上游技术（156家）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50876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上海华测导航技术股份有限公司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77924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上海峰华人工智能科技有限公司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47088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59669"/>
                </a:solidFill>
              </a:defRPr>
            </a:pPr>
            <a:r>
              <a:t>[研] 东莞理工学院生态环境与建筑工程学院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16252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中兴通讯股份有限公司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85416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中国电信股份有限公司广东分公司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35458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中国移动通信集团广东有限公司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523744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中国联合网络通信有限公司中山市分公司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692908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中国联合网络通信有限公司广东省分公司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862072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59669"/>
                </a:solidFill>
              </a:defRPr>
            </a:pPr>
            <a:r>
              <a:t>[研] 中山大学智能交通研究中心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031236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59669"/>
                </a:solidFill>
              </a:defRPr>
            </a:pPr>
            <a:r>
              <a:t>[研] 中山大学智能工程学院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20040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中山市人杰职业培训学校有限公司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369564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中电科普天科技股份有限公司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538728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中电科金仓（北京）科技股份有限公司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707892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中科星图数字地球合肥有限公司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877056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云宏信息科技股份有限公司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0462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云念软件（广东）有限公司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215383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59669"/>
                </a:solidFill>
              </a:defRPr>
            </a:pPr>
            <a:r>
              <a:t>[研] 五邑大学土木建筑学院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384547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亚信安全科技股份有限公司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553711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亿航智能设备有限公司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4722875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59669"/>
                </a:solidFill>
              </a:defRPr>
            </a:pPr>
            <a:r>
              <a:t>[研] 佛山大学交通与土木建筑学院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892039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佛山市青松科技股份有限公司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061203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佳都科技集团股份有限公司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230367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北京万集科技股份有限公司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399531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北京信安世纪科技股份有限公司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568695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北京卓视智通科技有限责任公司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737859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北京博研智通科技有限公司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5907023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北京启明星辰信息安全技术有限公司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076187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北京四维图新科技股份有限公司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245351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北京天融信网络安全技术有限公司广州分公司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14515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59669"/>
                </a:solidFill>
              </a:defRPr>
            </a:pPr>
            <a:r>
              <a:t>[研] 北京理工大学珠海学院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59" y="1097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</a:defRPr>
            </a:pPr>
            <a:r>
              <a:t>中游集成（190家）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59" y="150876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上海天玑科技股份有限公司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1959" y="1677924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东莞市交通投资控股集团有限公司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59" y="1847088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东莞市智城科技有限公司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59" y="2016252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中交城市投资控股有限公司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59" y="2185416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中交远洲交通科技集团有限公司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59" y="235458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中公华通（北京）科技发展有限公司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59" y="2523744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中国交通信息科技集团有限公司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59" y="2692908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中国联合网络通信有限公司深圳市分公司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59" y="2862072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中大智能科技股份有限公司广东分公司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3031236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中山市交通发展集团有限公司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59" y="320040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中捷通信有限公司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59" y="3369564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中时讯通信建设有限公司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59" y="3538728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中瑆科技（广东）有限公司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59" y="3707892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中移系统集成有限公司广东分公司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59" y="3877056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中诚金桥工程有限公司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1959" y="40462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中车广东轨道交通车辆有限公司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1959" y="4215383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中通服建设有限公司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1959" y="4384547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京雄云控（北京）智能交通科技有限公司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1959" y="4553711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佛山市交通投资集团有限公司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59" y="4722875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保利长大工程有限公司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51959" y="4892039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信创神州（广东）科技有限公司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51959" y="5061203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公诚管理咨询有限公司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1959" y="5230367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北京久其软件股份有限公司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1959" y="5399531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北京公科飞达交通工程发展有限公司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51959" y="5568695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北京华录高诚科技有限公司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51959" y="5737859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北京天云海星科技有限公司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51959" y="5907023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北京小赛网络科技有限公司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51959" y="6076187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北京超图软件股份有限公司广州分公司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51959" y="6245351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北京辰安科技股份有限公司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51959" y="6414515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北京逐风科技有限公司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1097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891B2"/>
                </a:solidFill>
              </a:defRPr>
            </a:pPr>
            <a:r>
              <a:t>下游应用（71家）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150876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东莞发展控股股份有限公司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1677924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东莞市路桥投资建设有限公司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1847088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中交广连高速公路投资发展有限公司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2016252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中山市国生汽车运输有限公司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2185416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丰巢网络技术有限公司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235458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佛山市广佛通电子收费营运有限公司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2523744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佛山广明高速公路有限公司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9600" y="2692908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北京市盈科（广州）律师事务所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2862072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华闳咨询集团有限公司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3031236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威盛运输企业有限公司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320040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岐关车路有限公司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0" y="3369564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广东享飞通用航空有限公司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0" y="3538728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广东利通物业发展有限公司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3707892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广东南方福瑞德律师事务所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3877056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广东南粤通客运联网中心有限公司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40462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广东广佛轨道交通有限公司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0" y="4215383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广东广深高速公路有限公司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384547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广东开阳高速公路有限公司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0" y="4553711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广东恒泰交通科技发展有限公司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722875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广东新协力交通股份有限公司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0" y="4892039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广东正衡税务师事务所有限公司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0" y="5061203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广东河惠高速公路有限公司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0" y="5230367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广东渝湛高速公路有限公司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0" y="5399531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广东港珠澳大桥穿梭巴士有限公司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0" y="5568695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891B2"/>
                </a:solidFill>
              </a:defRPr>
            </a:pPr>
            <a:r>
              <a:t>[民] 广东盈通网络投资有限公司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5737859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广东省公路建设有限公司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29600" y="5907023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广东省广播电视网络股份有限公司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9600" y="6076187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广东省拱北汽车运输有限责任公司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29600" y="6245351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广东省汽车运输集团有限公司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29600" y="6414515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D97706"/>
                </a:solidFill>
              </a:defRPr>
            </a:pPr>
            <a:r>
              <a:t>[国] 广东省路桥建设发展有限公司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数据统计总览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企业类型分布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97706"/>
                </a:solidFill>
              </a:defRPr>
            </a:pPr>
            <a:r>
              <a:t>央国企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737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5"/>
                </a:solidFill>
              </a:defRPr>
            </a:pPr>
            <a:r>
              <a:t>95 家（22.8%）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891B2"/>
                </a:solidFill>
              </a:defRPr>
            </a:pPr>
            <a:r>
              <a:t>民企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5"/>
                </a:solidFill>
              </a:defRPr>
            </a:pPr>
            <a:r>
              <a:t>285 家（68.3%）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7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59669"/>
                </a:solidFill>
              </a:defRPr>
            </a:pPr>
            <a:r>
              <a:t>科研机构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4688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5"/>
                </a:solidFill>
              </a:defRPr>
            </a:pPr>
            <a:r>
              <a:t>37 家（8.9%）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产业链层级分布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t>上游技术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737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5"/>
                </a:solidFill>
              </a:defRPr>
            </a:pPr>
            <a:r>
              <a:t>156 家（37.4%）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C3AED"/>
                </a:solidFill>
              </a:defRPr>
            </a:pPr>
            <a:r>
              <a:t>中游集成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5"/>
                </a:solidFill>
              </a:defRPr>
            </a:pPr>
            <a:r>
              <a:t>190 家（45.6%）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6887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891B2"/>
                </a:solidFill>
              </a:defRPr>
            </a:pPr>
            <a:r>
              <a:t>下游应用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4688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5"/>
                </a:solidFill>
              </a:defRPr>
            </a:pPr>
            <a:r>
              <a:t>71 家（17.0%）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场景覆盖 TOP10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智慧交通管理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1737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250 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02996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智慧公路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202996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130 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32257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交通大数据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232257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92 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61518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人工智能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261518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73 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90779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湾区MaaS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290779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67 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20039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自动驾驶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32003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64 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349300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低空智慧交通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3493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45 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856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信创网络安全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7856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32 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0782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智慧轨道交通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40782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22 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3708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C3AED"/>
                </a:solidFill>
              </a:defRPr>
            </a:pPr>
            <a:r>
              <a:t>智慧港航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43708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20 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数据截止日期：2026年6月  |  数据来源：广东省智能交通协会会员名录、企业公开信息、全网搜索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